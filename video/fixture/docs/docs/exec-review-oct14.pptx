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6B7280"/>
                </a:solidFill>
              </a:rPr>
              <a:t>Drop-off by step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Drop-off by step (%)</c:v>
                </c:pt>
              </c:strCache>
            </c:strRef>
          </c:tx>
          <c:dPt>
            <c:idx val="0"/>
            <c:spPr>
              <a:solidFill>
                <a:srgbClr val="B9C4BE"/>
              </a:solidFill>
            </c:spPr>
          </c:dPt>
          <c:dPt>
            <c:idx val="1"/>
            <c:spPr>
              <a:solidFill>
                <a:srgbClr val="1F4D3A"/>
              </a:solidFill>
            </c:spPr>
          </c:dPt>
          <c:dPt>
            <c:idx val="2"/>
            <c:spPr>
              <a:solidFill>
                <a:srgbClr val="B9C4BE"/>
              </a:solidFill>
            </c:spPr>
          </c:dPt>
          <c:dPt>
            <c:idx val="3"/>
            <c:spPr>
              <a:solidFill>
                <a:srgbClr val="B9C4BE"/>
              </a:solidFill>
            </c:spPr>
          </c:dPt>
          <c:cat>
            <c:strRef>
              <c:f>Sheet1!$A$2:$A$5</c:f>
              <c:strCache>
                <c:ptCount val="4"/>
                <c:pt idx="0">
                  <c:v>Cart</c:v>
                </c:pt>
                <c:pt idx="1">
                  <c:v>Account</c:v>
                </c:pt>
                <c:pt idx="2">
                  <c:v>Shipping</c:v>
                </c:pt>
                <c:pt idx="3">
                  <c:v>Payment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38</c:v>
                </c:pt>
                <c:pt idx="2">
                  <c:v>14</c:v>
                </c:pt>
                <c:pt idx="3">
                  <c:v>9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5E8"/>
            </a:solidFill>
          </a:ln>
        </c:spPr>
        <c:txPr>
          <a:bodyPr/>
          <a:lstStyle/>
          <a:p>
            <a:pPr>
              <a:defRPr sz="1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Helvetica Neue"/>
              </a:rPr>
              <a:t>Guest checkout: exec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9DDD3"/>
                </a:solidFill>
                <a:latin typeface="Helvetica Neue"/>
              </a:rPr>
              <a:t>checkout-redesign · Oct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1A1D21"/>
                </a:solidFill>
                <a:latin typeface="Helvetica Neue"/>
              </a:rPr>
              <a:t>Abandonment is highest at account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 Neue"/>
              </a:rPr>
              <a:t>Northwind Supply · checkout-redesign · exec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Helvetica Neue"/>
              </a:rPr>
              <a:t>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737360"/>
          <a:ext cx="7498079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95360" y="2194560"/>
            <a:ext cx="30175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233172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1F4D3A"/>
                </a:solidFill>
                <a:latin typeface="Helvetica Neue"/>
              </a:rPr>
              <a:t>38%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383280"/>
            <a:ext cx="2651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A1D21"/>
                </a:solidFill>
                <a:latin typeface="Helvetica Neue"/>
              </a:rPr>
              <a:t>of guests leave when asked to make an account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1A1D21"/>
                </a:solidFill>
                <a:latin typeface="Helvetica Neue"/>
              </a:rPr>
              <a:t>Proposal: one-page guest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 Neue"/>
              </a:rPr>
              <a:t>Northwind Supply · checkout-redesign · exec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Helvetica Neue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>
                <a:solidFill>
                  <a:srgbClr val="1A1D21"/>
                </a:solidFill>
                <a:latin typeface="Helvetica Neue"/>
              </a:rPr>
              <a:t>•  No account until after purchase</a:t>
            </a:r>
          </a:p>
          <a:p>
            <a:pPr>
              <a:spcAft>
                <a:spcPts val="2200"/>
              </a:spcAft>
            </a:pPr>
            <a:r>
              <a:rPr sz="3000">
                <a:solidFill>
                  <a:srgbClr val="1A1D21"/>
                </a:solidFill>
                <a:latin typeface="Helvetica Neue"/>
              </a:rPr>
              <a:t>•  Express pay above the fold</a:t>
            </a:r>
          </a:p>
          <a:p>
            <a:pPr>
              <a:spcAft>
                <a:spcPts val="2200"/>
              </a:spcAft>
            </a:pPr>
            <a:r>
              <a:rPr sz="3000">
                <a:solidFill>
                  <a:srgbClr val="1A1D21"/>
                </a:solidFill>
                <a:latin typeface="Helvetica Neue"/>
              </a:rPr>
              <a:t>•  Saved cards for returning guests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1A1D21"/>
                </a:solidFill>
                <a:latin typeface="Helvetica Neue"/>
              </a:rPr>
              <a:t>Target: −15% abandonment by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 Neue"/>
              </a:rPr>
              <a:t>Northwind Supply · checkout-redesign · exec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Helvetica Neue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>
                <a:solidFill>
                  <a:srgbClr val="1A1D21"/>
                </a:solidFill>
                <a:latin typeface="Helvetica Neue"/>
              </a:rPr>
              <a:t>•  A/B test from Nov 4</a:t>
            </a:r>
          </a:p>
          <a:p>
            <a:pPr>
              <a:spcAft>
                <a:spcPts val="2200"/>
              </a:spcAft>
            </a:pPr>
            <a:r>
              <a:rPr sz="3000">
                <a:solidFill>
                  <a:srgbClr val="1A1D21"/>
                </a:solidFill>
                <a:latin typeface="Helvetica Neue"/>
              </a:rPr>
              <a:t>•  Readout Dec 9</a:t>
            </a:r>
          </a:p>
          <a:p>
            <a:pPr>
              <a:spcAft>
                <a:spcPts val="2200"/>
              </a:spcAft>
            </a:pPr>
            <a:r>
              <a:rPr sz="3000">
                <a:solidFill>
                  <a:srgbClr val="1A1D21"/>
                </a:solidFill>
                <a:latin typeface="Helvetica Neue"/>
              </a:rPr>
              <a:t>•  Full rollout Jan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