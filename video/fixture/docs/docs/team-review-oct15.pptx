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0">
                <a:solidFill>
                  <a:srgbClr val="6E726A"/>
                </a:solidFill>
                <a:latin typeface="Helvetica Neue"/>
              </a:rPr>
              <a:t>Share of 236 wrong reads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236 wrong reads (%)</c:v>
                </c:pt>
              </c:strCache>
            </c:strRef>
          </c:tx>
          <c:dPt>
            <c:idx val="0"/>
            <c:spPr>
              <a:solidFill>
                <a:srgbClr val="0F5C4D"/>
              </a:solidFill>
            </c:spPr>
          </c:dPt>
          <c:dPt>
            <c:idx val="1"/>
            <c:spPr>
              <a:solidFill>
                <a:srgbClr val="B7CCC3"/>
              </a:solidFill>
            </c:spPr>
          </c:dPt>
          <c:dPt>
            <c:idx val="2"/>
            <c:spPr>
              <a:solidFill>
                <a:srgbClr val="B7CCC3"/>
              </a:solidFill>
            </c:spPr>
          </c:dPt>
          <c:dPt>
            <c:idx val="3"/>
            <c:spPr>
              <a:solidFill>
                <a:srgbClr val="B7CCC3"/>
              </a:solidFill>
            </c:spPr>
          </c:dPt>
          <c:dPt>
            <c:idx val="4"/>
            <c:spPr>
              <a:solidFill>
                <a:srgbClr val="B7CCC3"/>
              </a:solidFill>
            </c:spPr>
          </c:dPt>
          <c:cat>
            <c:strRef>
              <c:f>Sheet1!$A$2:$A$6</c:f>
              <c:strCache>
                <c:ptCount val="5"/>
                <c:pt idx="0">
                  <c:v>Tilted</c:v>
                </c:pt>
                <c:pt idx="1">
                  <c:v>Glare</c:v>
                </c:pt>
                <c:pt idx="2">
                  <c:v>Thin spines</c:v>
                </c:pt>
                <c:pt idx="3">
                  <c:v>Stacked</c:v>
                </c:pt>
                <c:pt idx="4">
                  <c:v>Other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34</c:v>
                </c:pt>
                <c:pt idx="1">
                  <c:v>27</c:v>
                </c:pt>
                <c:pt idx="2">
                  <c:v>21</c:v>
                </c:pt>
                <c:pt idx="3">
                  <c:v>12</c:v>
                </c:pt>
                <c:pt idx="4">
                  <c:v>6</c:v>
                </c:pt>
              </c:numCache>
            </c:numRef>
          </c:val>
        </c:ser>
        <c:dLbls>
          <c:txPr>
            <a:bodyPr/>
            <a:lstStyle/>
            <a:p>
              <a:pPr>
                <a:defRPr sz="18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DD5C2"/>
            </a:solidFill>
          </a:ln>
        </c:spPr>
        <c:txPr>
          <a:bodyPr/>
          <a:lstStyle/>
          <a:p>
            <a:pPr>
              <a:defRPr sz="15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5C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148840"/>
            <a:ext cx="1097280" cy="73152"/>
          </a:xfrm>
          <a:prstGeom prst="rect">
            <a:avLst/>
          </a:prstGeom>
          <a:solidFill>
            <a:srgbClr val="E8B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10515600" cy="146304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Georgia"/>
              </a:rPr>
              <a:t>Shelf scan v2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0233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CFE3DA"/>
                </a:solidFill>
                <a:latin typeface="Helvetica Neue"/>
              </a:rPr>
              <a:t>Team review · Thu Oct 15 · Sam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093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CFE3DA"/>
                </a:solidFill>
                <a:latin typeface="Helvetica Neue"/>
              </a:rPr>
              <a:t>Little Shared Library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5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242B28"/>
                </a:solidFill>
                <a:latin typeface="Georgia"/>
              </a:rPr>
              <a:t>Where scans go wrong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355080"/>
            <a:ext cx="10725912" cy="18288"/>
          </a:xfrm>
          <a:prstGeom prst="rect">
            <a:avLst/>
          </a:prstGeom>
          <a:solidFill>
            <a:srgbClr val="DDD5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E726A"/>
                </a:solidFill>
                <a:latin typeface="Helvetica Neue"/>
              </a:rPr>
              <a:t>Little Shared Library · shelf-scan · team review Oct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00800"/>
            <a:ext cx="57607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E726A"/>
                </a:solidFill>
                <a:latin typeface="Helvetica Neue"/>
              </a:rPr>
              <a:t>2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31520" y="1737360"/>
          <a:ext cx="7498079" cy="4389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595360" y="210312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FFFDF8"/>
          </a:solidFill>
          <a:ln>
            <a:solidFill>
              <a:srgbClr val="DDD5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0" y="2240280"/>
            <a:ext cx="2651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600" b="1">
                <a:solidFill>
                  <a:srgbClr val="0F5C4D"/>
                </a:solidFill>
                <a:latin typeface="Georgia"/>
              </a:rPr>
              <a:t>81%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3383280"/>
            <a:ext cx="26517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242B28"/>
                </a:solidFill>
                <a:latin typeface="Helvetica Neue"/>
              </a:rPr>
              <a:t>of spines read right; every miss lands in the catalog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5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242B28"/>
                </a:solidFill>
                <a:latin typeface="Georgia"/>
              </a:rPr>
              <a:t>What we heard from testers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355080"/>
            <a:ext cx="10725912" cy="18288"/>
          </a:xfrm>
          <a:prstGeom prst="rect">
            <a:avLst/>
          </a:prstGeom>
          <a:solidFill>
            <a:srgbClr val="DDD5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E726A"/>
                </a:solidFill>
                <a:latin typeface="Helvetica Neue"/>
              </a:rPr>
              <a:t>Little Shared Library · shelf-scan · team review Oct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00800"/>
            <a:ext cx="57607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E726A"/>
                </a:solidFill>
                <a:latin typeface="Helvetica Neue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783080"/>
            <a:ext cx="73152" cy="1234440"/>
          </a:xfrm>
          <a:prstGeom prst="rect">
            <a:avLst/>
          </a:prstGeom>
          <a:solidFill>
            <a:srgbClr val="0F5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737360"/>
            <a:ext cx="6675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0">
                <a:solidFill>
                  <a:srgbClr val="242B28"/>
                </a:solidFill>
                <a:latin typeface="Georgia"/>
              </a:rPr>
              <a:t>“My own box has a book on it that isn’t there.”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651760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E726A"/>
                </a:solidFill>
                <a:latin typeface="Helvetica Neue"/>
              </a:rPr>
              <a:t>Denise, P3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566160"/>
            <a:ext cx="73152" cy="1234440"/>
          </a:xfrm>
          <a:prstGeom prst="rect">
            <a:avLst/>
          </a:prstGeom>
          <a:solidFill>
            <a:srgbClr val="0F5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520440"/>
            <a:ext cx="6675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0">
                <a:solidFill>
                  <a:srgbClr val="242B28"/>
                </a:solidFill>
                <a:latin typeface="Georgia"/>
              </a:rPr>
              <a:t>“Two wrong books and I stopped.”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34840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E726A"/>
                </a:solidFill>
                <a:latin typeface="Helvetica Neue"/>
              </a:rPr>
              <a:t>Owen, P8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2011680"/>
            <a:ext cx="3383280" cy="3200400"/>
          </a:xfrm>
          <a:prstGeom prst="roundRect">
            <a:avLst>
              <a:gd name="adj" fmla="val 5000"/>
            </a:avLst>
          </a:prstGeom>
          <a:solidFill>
            <a:srgbClr val="FFFDF8"/>
          </a:solidFill>
          <a:ln>
            <a:solidFill>
              <a:srgbClr val="DDD5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6760" y="2286000"/>
            <a:ext cx="3108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800" b="1">
                <a:solidFill>
                  <a:srgbClr val="0F5C4D"/>
                </a:solidFill>
                <a:latin typeface="Georgia"/>
              </a:rPr>
              <a:t>46 of 148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3566160"/>
            <a:ext cx="2834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242B28"/>
                </a:solidFill>
                <a:latin typeface="Helvetica Neue"/>
              </a:rPr>
              <a:t>testers who saw a wrong book stopped scanning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5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242B28"/>
                </a:solidFill>
                <a:latin typeface="Georgia"/>
              </a:rPr>
              <a:t>Proposal: review before add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355080"/>
            <a:ext cx="10725912" cy="18288"/>
          </a:xfrm>
          <a:prstGeom prst="rect">
            <a:avLst/>
          </a:prstGeom>
          <a:solidFill>
            <a:srgbClr val="DDD5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E726A"/>
                </a:solidFill>
                <a:latin typeface="Helvetica Neue"/>
              </a:rPr>
              <a:t>Little Shared Library · shelf-scan · team review Oct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00800"/>
            <a:ext cx="57607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E726A"/>
                </a:solidFill>
                <a:latin typeface="Helvetica Ne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920240"/>
            <a:ext cx="10424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3000">
                <a:solidFill>
                  <a:srgbClr val="242B28"/>
                </a:solidFill>
                <a:latin typeface="Georgia"/>
              </a:rPr>
              <a:t>•  Show every spine the scan found</a:t>
            </a:r>
          </a:p>
          <a:p>
            <a:pPr>
              <a:spcAft>
                <a:spcPts val="1800"/>
              </a:spcAft>
            </a:pPr>
            <a:r>
              <a:rPr sz="3000">
                <a:solidFill>
                  <a:srgbClr val="242B28"/>
                </a:solidFill>
                <a:latin typeface="Georgia"/>
              </a:rPr>
              <a:t>•  Flag the ones the model is unsure of</a:t>
            </a:r>
          </a:p>
          <a:p>
            <a:pPr>
              <a:spcAft>
                <a:spcPts val="1800"/>
              </a:spcAft>
            </a:pPr>
            <a:r>
              <a:rPr sz="3000">
                <a:solidFill>
                  <a:srgbClr val="242B28"/>
                </a:solidFill>
                <a:latin typeface="Georgia"/>
              </a:rPr>
              <a:t>•  Fix a miss in one tap</a:t>
            </a:r>
          </a:p>
          <a:p>
            <a:pPr>
              <a:spcAft>
                <a:spcPts val="1800"/>
              </a:spcAft>
            </a:pPr>
            <a:r>
              <a:rPr sz="3000">
                <a:solidFill>
                  <a:srgbClr val="242B28"/>
                </a:solidFill>
                <a:latin typeface="Georgia"/>
              </a:rPr>
              <a:t>•  Nothing is added until you tap “Add”</a:t>
            </a:r>
          </a:p>
          <a:p>
            <a:pPr>
              <a:spcAft>
                <a:spcPts val="1800"/>
              </a:spcAft>
            </a:pPr>
            <a:r>
              <a:rPr sz="3000">
                <a:solidFill>
                  <a:srgbClr val="242B28"/>
                </a:solidFill>
                <a:latin typeface="Georgia"/>
              </a:rPr>
              <a:t>•  Warn about glare before the photo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5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242B28"/>
                </a:solidFill>
                <a:latin typeface="Georgia"/>
              </a:rPr>
              <a:t>Targets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355080"/>
            <a:ext cx="10725912" cy="18288"/>
          </a:xfrm>
          <a:prstGeom prst="rect">
            <a:avLst/>
          </a:prstGeom>
          <a:solidFill>
            <a:srgbClr val="DDD5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E726A"/>
                </a:solidFill>
                <a:latin typeface="Helvetica Neue"/>
              </a:rPr>
              <a:t>Little Shared Library · shelf-scan · team review Oct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00800"/>
            <a:ext cx="57607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E726A"/>
                </a:solidFill>
                <a:latin typeface="Helvetica Neue"/>
              </a:rPr>
              <a:t>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920240"/>
          <a:ext cx="106984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43600"/>
                <a:gridCol w="2377440"/>
                <a:gridCol w="2377440"/>
              </a:tblGrid>
              <a:tr h="82296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Helvetica Neue"/>
                        </a:rPr>
                        <a:t>Metric</a:t>
                      </a:r>
                    </a:p>
                  </a:txBody>
                  <a:tcPr anchor="ctr">
                    <a:solidFill>
                      <a:srgbClr val="0F5C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Helvetica Neue"/>
                        </a:rPr>
                        <a:t>Today</a:t>
                      </a:r>
                    </a:p>
                  </a:txBody>
                  <a:tcPr anchor="ctr">
                    <a:solidFill>
                      <a:srgbClr val="0F5C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Helvetica Neue"/>
                        </a:rPr>
                        <a:t>Target</a:t>
                      </a:r>
                    </a:p>
                  </a:txBody>
                  <a:tcPr anchor="ctr">
                    <a:solidFill>
                      <a:srgbClr val="0F5C4D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242B28"/>
                          </a:solidFill>
                          <a:latin typeface="Helvetica Neue"/>
                        </a:rPr>
                        <a:t>Scans that end with a saved shelf</a:t>
                      </a:r>
                    </a:p>
                  </a:txBody>
                  <a:tcPr anchor="ctr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242B28"/>
                          </a:solidFill>
                          <a:latin typeface="Helvetica Neue"/>
                        </a:rPr>
                        <a:t>64%</a:t>
                      </a:r>
                    </a:p>
                  </a:txBody>
                  <a:tcPr anchor="ctr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0F5C4D"/>
                          </a:solidFill>
                          <a:latin typeface="Helvetica Neue"/>
                        </a:rPr>
                        <a:t>80%</a:t>
                      </a:r>
                    </a:p>
                  </a:txBody>
                  <a:tcPr anchor="ctr">
                    <a:solidFill>
                      <a:srgbClr val="FFFDF8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242B28"/>
                          </a:solidFill>
                          <a:latin typeface="Helvetica Neue"/>
                        </a:rPr>
                        <a:t>Wrong books in the catalog</a:t>
                      </a:r>
                    </a:p>
                  </a:txBody>
                  <a:tcPr anchor="ctr">
                    <a:solidFill>
                      <a:srgbClr val="F6F1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242B28"/>
                          </a:solidFill>
                          <a:latin typeface="Helvetica Neue"/>
                        </a:rPr>
                        <a:t>19%</a:t>
                      </a:r>
                    </a:p>
                  </a:txBody>
                  <a:tcPr anchor="ctr">
                    <a:solidFill>
                      <a:srgbClr val="F6F1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0F5C4D"/>
                          </a:solidFill>
                          <a:latin typeface="Helvetica Neue"/>
                        </a:rPr>
                        <a:t>under 3%</a:t>
                      </a:r>
                    </a:p>
                  </a:txBody>
                  <a:tcPr anchor="ctr">
                    <a:solidFill>
                      <a:srgbClr val="F6F1E6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242B28"/>
                          </a:solidFill>
                          <a:latin typeface="Helvetica Neue"/>
                        </a:rPr>
                        <a:t>Median time to review a shelf</a:t>
                      </a:r>
                    </a:p>
                  </a:txBody>
                  <a:tcPr anchor="ctr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242B28"/>
                          </a:solidFill>
                          <a:latin typeface="Helvetica Neue"/>
                        </a:rPr>
                        <a:t>—</a:t>
                      </a:r>
                    </a:p>
                  </a:txBody>
                  <a:tcPr anchor="ctr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0F5C4D"/>
                          </a:solidFill>
                          <a:latin typeface="Helvetica Neue"/>
                        </a:rPr>
                        <a:t>20 s</a:t>
                      </a:r>
                    </a:p>
                  </a:txBody>
                  <a:tcPr anchor="ctr"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5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242B28"/>
                </a:solidFill>
                <a:latin typeface="Georgia"/>
              </a:rPr>
              <a:t>Decision for Thursday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355080"/>
            <a:ext cx="10725912" cy="18288"/>
          </a:xfrm>
          <a:prstGeom prst="rect">
            <a:avLst/>
          </a:prstGeom>
          <a:solidFill>
            <a:srgbClr val="DDD5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E726A"/>
                </a:solidFill>
                <a:latin typeface="Helvetica Neue"/>
              </a:rPr>
              <a:t>Little Shared Library · shelf-scan · team review Oct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00800"/>
            <a:ext cx="57607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E726A"/>
                </a:solidFill>
                <a:latin typeface="Helvetica Ne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920240"/>
            <a:ext cx="10424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3000">
                <a:solidFill>
                  <a:srgbClr val="242B28"/>
                </a:solidFill>
                <a:latin typeface="Georgia"/>
              </a:rPr>
              <a:t>•  Auto-add: keep it for stewards at 95%+, or remove it until the model gets there?</a:t>
            </a:r>
          </a:p>
          <a:p>
            <a:pPr>
              <a:spcAft>
                <a:spcPts val="1800"/>
              </a:spcAft>
            </a:pPr>
            <a:r>
              <a:rPr sz="3000">
                <a:solidFill>
                  <a:srgbClr val="242B28"/>
                </a:solidFill>
                <a:latin typeface="Georgia"/>
              </a:rPr>
              <a:t>•  Scan v2 into the November build</a:t>
            </a:r>
          </a:p>
          <a:p>
            <a:pPr>
              <a:spcAft>
                <a:spcPts val="1800"/>
              </a:spcAft>
            </a:pPr>
            <a:r>
              <a:rPr sz="3000">
                <a:solidFill>
                  <a:srgbClr val="242B28"/>
                </a:solidFill>
                <a:latin typeface="Georgia"/>
              </a:rPr>
              <a:t>•  Target: TestFlight Nov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2026-10-12T18:00:00Z</dcterms:created>
  <dcterms:modified xsi:type="dcterms:W3CDTF">2026-10-12T18:00:00Z</dcterms:modified>
  <cp:category/>
</cp:coreProperties>
</file>