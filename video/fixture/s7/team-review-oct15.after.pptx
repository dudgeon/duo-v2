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0">
                <a:solidFill>
                  <a:srgbClr val="6E726A"/>
                </a:solidFill>
                <a:latin typeface="Helvetica Neue"/>
              </a:rPr>
              <a:t>Share of 236 wrong reads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236 wrong reads (%)</c:v>
                </c:pt>
              </c:strCache>
            </c:strRef>
          </c:tx>
          <c:dPt>
            <c:idx val="0"/>
            <c:spPr>
              <a:solidFill>
                <a:srgbClr val="0F5C4D"/>
              </a:solidFill>
            </c:spPr>
          </c:dPt>
          <c:dPt>
            <c:idx val="1"/>
            <c:spPr>
              <a:solidFill>
                <a:srgbClr val="B7CCC3"/>
              </a:solidFill>
            </c:spPr>
          </c:dPt>
          <c:dPt>
            <c:idx val="2"/>
            <c:spPr>
              <a:solidFill>
                <a:srgbClr val="B7CCC3"/>
              </a:solidFill>
            </c:spPr>
          </c:dPt>
          <c:dPt>
            <c:idx val="3"/>
            <c:spPr>
              <a:solidFill>
                <a:srgbClr val="B7CCC3"/>
              </a:solidFill>
            </c:spPr>
          </c:dPt>
          <c:dPt>
            <c:idx val="4"/>
            <c:spPr>
              <a:solidFill>
                <a:srgbClr val="B7CCC3"/>
              </a:solidFill>
            </c:spPr>
          </c:dPt>
          <c:cat>
            <c:strRef>
              <c:f>Sheet1!$A$2:$A$6</c:f>
              <c:strCache>
                <c:ptCount val="5"/>
                <c:pt idx="0">
                  <c:v>Tilted</c:v>
                </c:pt>
                <c:pt idx="1">
                  <c:v>Glare</c:v>
                </c:pt>
                <c:pt idx="2">
                  <c:v>Thin spines</c:v>
                </c:pt>
                <c:pt idx="3">
                  <c:v>Stacked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27</c:v>
                </c:pt>
                <c:pt idx="2">
                  <c:v>21</c:v>
                </c:pt>
                <c:pt idx="3">
                  <c:v>12</c:v>
                </c:pt>
                <c:pt idx="4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5C2"/>
            </a:solidFill>
          </a:ln>
        </c:spPr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C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1097280" cy="73152"/>
          </a:xfrm>
          <a:prstGeom prst="rect">
            <a:avLst/>
          </a:prstGeom>
          <a:solidFill>
            <a:srgbClr val="E8B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Georgia"/>
              </a:rPr>
              <a:t>Shelf scan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FE3DA"/>
                </a:solidFill>
                <a:latin typeface="Helvetica Neue"/>
              </a:rPr>
              <a:t>Team review · Thu Oct 15 · 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FE3DA"/>
                </a:solidFill>
                <a:latin typeface="Helvetica Neue"/>
              </a:rPr>
              <a:t>Little Shared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242B28"/>
                </a:solidFill>
                <a:latin typeface="Georgia"/>
              </a:rPr>
              <a:t>Where scans go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DD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26A"/>
                </a:solidFill>
                <a:latin typeface="Helvetica Neue"/>
              </a:rPr>
              <a:t>Little Shared Library · shelf-scan · team review Oct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E726A"/>
                </a:solidFill>
                <a:latin typeface="Helvetica Neue"/>
              </a:rPr>
              <a:t>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73736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95360" y="2103120"/>
            <a:ext cx="3017520" cy="27432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D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24028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0F5C4D"/>
                </a:solidFill>
                <a:latin typeface="Georgia"/>
              </a:rPr>
              <a:t>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383280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42B28"/>
                </a:solidFill>
                <a:latin typeface="Helvetica Neue"/>
              </a:rPr>
              <a:t>of spines read right; every miss lands in the catalog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242B28"/>
                </a:solidFill>
                <a:latin typeface="Georgia"/>
              </a:rPr>
              <a:t>What the eval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DD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26A"/>
                </a:solidFill>
                <a:latin typeface="Helvetica Neue"/>
              </a:rPr>
              <a:t>Little Shared Library · shelf-scan · team review Oct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E726A"/>
                </a:solidFill>
                <a:latin typeface="Helvetica Ne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70408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400">
                <a:solidFill>
                  <a:srgbClr val="242B28"/>
                </a:solidFill>
                <a:latin typeface="Georgia"/>
              </a:rPr>
              <a:t>•  Ravi's Sep 28 eval read 81% of spines right across 1,240 photos from 96 shelves.</a:t>
            </a:r>
          </a:p>
          <a:p>
            <a:pPr>
              <a:spcAft>
                <a:spcPts val="1800"/>
              </a:spcAft>
            </a:pPr>
            <a:r>
              <a:rPr sz="2400">
                <a:solidFill>
                  <a:srgbClr val="242B28"/>
                </a:solidFill>
                <a:latin typeface="Georgia"/>
              </a:rPr>
              <a:t>•  Tilted spines caused 34% of the wrong reads and glare 27%, most of it at glass-door boxes.</a:t>
            </a:r>
          </a:p>
          <a:p>
            <a:pPr>
              <a:spcAft>
                <a:spcPts val="1800"/>
              </a:spcAft>
            </a:pPr>
            <a:r>
              <a:rPr sz="2400">
                <a:solidFill>
                  <a:srgbClr val="242B28"/>
                </a:solidFill>
                <a:latin typeface="Georgia"/>
              </a:rPr>
              <a:t>•  With a review step in the prototype, testers got 97% of books right in a median 18 seconds a shelf.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1168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D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860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0F5C4D"/>
                </a:solidFill>
                <a:latin typeface="Georgia"/>
              </a:rPr>
              <a:t>236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56616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242B28"/>
                </a:solidFill>
                <a:latin typeface="Helvetica Neue"/>
              </a:rPr>
              <a:t>wrong reads in 1,240 photos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242B28"/>
                </a:solidFill>
                <a:latin typeface="Georgia"/>
              </a:rPr>
              <a:t>What we heard from testers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DD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26A"/>
                </a:solidFill>
                <a:latin typeface="Helvetica Neue"/>
              </a:rPr>
              <a:t>Little Shared Library · shelf-scan · team review Oct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E726A"/>
                </a:solidFill>
                <a:latin typeface="Helvetica Neue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73152" cy="1234440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6675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42B28"/>
                </a:solidFill>
                <a:latin typeface="Georgia"/>
              </a:rPr>
              <a:t>“My own box has a book on it that isn’t there.”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E726A"/>
                </a:solidFill>
                <a:latin typeface="Helvetica Neue"/>
              </a:rPr>
              <a:t>Denise, P3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73152" cy="1234440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6675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42B28"/>
                </a:solidFill>
                <a:latin typeface="Georgia"/>
              </a:rPr>
              <a:t>“Two wrong books and I stopped.”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E726A"/>
                </a:solidFill>
                <a:latin typeface="Helvetica Neue"/>
              </a:rPr>
              <a:t>Owen, P8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D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2860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0F5C4D"/>
                </a:solidFill>
                <a:latin typeface="Georgia"/>
              </a:rPr>
              <a:t>46 of 148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56616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242B28"/>
                </a:solidFill>
                <a:latin typeface="Helvetica Neue"/>
              </a:rPr>
              <a:t>testers who saw a wrong book stopped scanning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242B28"/>
                </a:solidFill>
                <a:latin typeface="Georgia"/>
              </a:rPr>
              <a:t>Proposal: review before add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DD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26A"/>
                </a:solidFill>
                <a:latin typeface="Helvetica Neue"/>
              </a:rPr>
              <a:t>Little Shared Library · shelf-scan · team review Oct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E726A"/>
                </a:solidFill>
                <a:latin typeface="Helvetica Ne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Show every spine the scan found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Flag the ones the model is unsure of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Fix a miss in one tap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Nothing is added until you tap “Add”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Warn about glare before the photo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242B28"/>
                </a:solidFill>
                <a:latin typeface="Georgia"/>
              </a:rPr>
              <a:t>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DD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26A"/>
                </a:solidFill>
                <a:latin typeface="Helvetica Neue"/>
              </a:rPr>
              <a:t>Little Shared Library · shelf-scan · team review Oct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E726A"/>
                </a:solidFill>
                <a:latin typeface="Helvetica Neue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202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377440"/>
                <a:gridCol w="2377440"/>
              </a:tblGrid>
              <a:tr h="82296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 anchor="ctr">
                    <a:solidFill>
                      <a:srgbClr val="0F5C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Helvetica Neue"/>
                        </a:rPr>
                        <a:t>Today</a:t>
                      </a:r>
                    </a:p>
                  </a:txBody>
                  <a:tcPr anchor="ctr">
                    <a:solidFill>
                      <a:srgbClr val="0F5C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Helvetica Neue"/>
                        </a:rPr>
                        <a:t>Target</a:t>
                      </a:r>
                    </a:p>
                  </a:txBody>
                  <a:tcPr anchor="ctr">
                    <a:solidFill>
                      <a:srgbClr val="0F5C4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Scans that end with a saved shelf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64%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F5C4D"/>
                          </a:solidFill>
                          <a:latin typeface="Helvetica Neue"/>
                        </a:rPr>
                        <a:t>80%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Wrong books in the catalog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19%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F5C4D"/>
                          </a:solidFill>
                          <a:latin typeface="Helvetica Neue"/>
                        </a:rPr>
                        <a:t>under 3%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Median time to review a shelf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F5C4D"/>
                          </a:solidFill>
                          <a:latin typeface="Helvetica Neue"/>
                        </a:rPr>
                        <a:t>20 s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242B28"/>
                </a:solidFill>
                <a:latin typeface="Georgia"/>
              </a:rPr>
              <a:t>Decision for Thursday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DD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26A"/>
                </a:solidFill>
                <a:latin typeface="Helvetica Neue"/>
              </a:rPr>
              <a:t>Little Shared Library · shelf-scan · team review Oct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E726A"/>
                </a:solidFill>
                <a:latin typeface="Helvetica Neue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Auto-add: keep it for stewards at 95%+, or remove it until the model gets there?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Scan v2 into the November build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Target: TestFlight Nov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2026-10-12T18:00:00Z</dcterms:created>
  <dcterms:modified xsi:type="dcterms:W3CDTF">2026-10-12T18:00:00Z</dcterms:modified>
  <cp:category/>
</cp:coreProperties>
</file>